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Playfair Display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  <p:embeddedFont>
      <p:font typeface="Oswald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22" Type="http://schemas.openxmlformats.org/officeDocument/2006/relationships/font" Target="fonts/Oswald-regular.fntdata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schemas.openxmlformats.org/officeDocument/2006/relationships/font" Target="fonts/Oswald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fairDisplay-bold.fntdata"/><Relationship Id="rId14" Type="http://schemas.openxmlformats.org/officeDocument/2006/relationships/font" Target="fonts/PlayfairDisplay-regular.fntdata"/><Relationship Id="rId17" Type="http://schemas.openxmlformats.org/officeDocument/2006/relationships/font" Target="fonts/PlayfairDisplay-boldItalic.fntdata"/><Relationship Id="rId16" Type="http://schemas.openxmlformats.org/officeDocument/2006/relationships/font" Target="fonts/PlayfairDisplay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715000" y="0"/>
            <a:ext cx="96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5811300" y="0"/>
            <a:ext cx="51375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59000" y="1871800"/>
            <a:ext cx="11274000" cy="28623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100"/>
              <a:buFont typeface="Playfair Display"/>
              <a:buNone/>
              <a:defRPr b="1" sz="91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59000" y="4734200"/>
            <a:ext cx="6546900" cy="7704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ontserrat"/>
              <a:buNone/>
              <a:defRPr b="1" sz="3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6067700" y="-664800"/>
            <a:ext cx="56700" cy="11274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59000" y="1871800"/>
            <a:ext cx="11274000" cy="28623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400"/>
              <a:buFont typeface="Playfair Display"/>
              <a:buNone/>
              <a:defRPr b="1" sz="64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415600" y="1645433"/>
            <a:ext cx="11360700" cy="444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15600" y="1645400"/>
            <a:ext cx="5333100" cy="444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6443200" y="1645400"/>
            <a:ext cx="5333100" cy="4446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653667" y="701800"/>
            <a:ext cx="7491600" cy="54543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Playfair Display"/>
              <a:buNone/>
              <a:defRPr sz="72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6096000" y="-10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6706233" y="5994000"/>
            <a:ext cx="624300" cy="0"/>
          </a:xfrm>
          <a:prstGeom prst="straightConnector1">
            <a:avLst/>
          </a:prstGeom>
          <a:noFill/>
          <a:ln cap="flat" cmpd="sng" w="25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354000" y="1442233"/>
            <a:ext cx="5393700" cy="238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354000" y="3895201"/>
            <a:ext cx="5393700" cy="17940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586000" y="965600"/>
            <a:ext cx="5115900" cy="49269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>
                <a:highlight>
                  <a:schemeClr val="lt1"/>
                </a:highlight>
              </a:defRPr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lt1"/>
                </a:highlight>
              </a:defRPr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lt1"/>
                </a:highlight>
              </a:defRPr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>
                <a:highlight>
                  <a:schemeClr val="lt1"/>
                </a:highlight>
              </a:defRPr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lt1"/>
                </a:highlight>
              </a:defRPr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lt1"/>
                </a:highlight>
              </a:defRPr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>
                <a:highlight>
                  <a:schemeClr val="lt1"/>
                </a:highlight>
              </a:defRPr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lt1"/>
                </a:highlight>
              </a:defRPr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415600" y="1333233"/>
            <a:ext cx="11360700" cy="28617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8700"/>
              <a:buFont typeface="Montserrat"/>
              <a:buNone/>
              <a:defRPr sz="187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415600" y="4304567"/>
            <a:ext cx="11360700" cy="17343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>
                <a:highlight>
                  <a:schemeClr val="dk1"/>
                </a:highlight>
              </a:defRPr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dk1"/>
                </a:highlight>
              </a:defRPr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dk1"/>
                </a:highlight>
              </a:defRPr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>
                <a:highlight>
                  <a:schemeClr val="dk1"/>
                </a:highlight>
              </a:defRPr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dk1"/>
                </a:highlight>
              </a:defRPr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dk1"/>
                </a:highlight>
              </a:defRPr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>
                <a:highlight>
                  <a:schemeClr val="dk1"/>
                </a:highlight>
              </a:defRPr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>
                <a:highlight>
                  <a:schemeClr val="dk1"/>
                </a:highlight>
              </a:defRPr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D-ShadowLong.png" id="55" name="Google Shape;55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" y="1970240"/>
            <a:ext cx="10437813" cy="3211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D-ShadowShort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585826" y="1971234"/>
            <a:ext cx="1602998" cy="14427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0" y="609600"/>
            <a:ext cx="10437900" cy="13683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10585827" y="609600"/>
            <a:ext cx="1602900" cy="1368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 txBox="1"/>
          <p:nvPr>
            <p:ph type="title"/>
          </p:nvPr>
        </p:nvSpPr>
        <p:spPr>
          <a:xfrm>
            <a:off x="680321" y="753228"/>
            <a:ext cx="9613800" cy="108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" type="body"/>
          </p:nvPr>
        </p:nvSpPr>
        <p:spPr>
          <a:xfrm>
            <a:off x="680321" y="2336873"/>
            <a:ext cx="9613800" cy="35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0" type="dt"/>
          </p:nvPr>
        </p:nvSpPr>
        <p:spPr>
          <a:xfrm>
            <a:off x="7550981" y="5936187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1" type="ftr"/>
          </p:nvPr>
        </p:nvSpPr>
        <p:spPr>
          <a:xfrm>
            <a:off x="680321" y="5936188"/>
            <a:ext cx="6870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10729455" y="753227"/>
            <a:ext cx="1154100" cy="1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Oswald"/>
              <a:buNone/>
              <a:defRPr sz="4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645433"/>
            <a:ext cx="11360700" cy="44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Playfair Display"/>
              <a:buChar char="●"/>
              <a:defRPr sz="24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○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■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●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○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■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●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○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Playfair Display"/>
              <a:buChar char="■"/>
              <a:defRPr sz="19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330666" y="6251679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3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jpg"/><Relationship Id="rId4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ctrTitle"/>
          </p:nvPr>
        </p:nvSpPr>
        <p:spPr>
          <a:xfrm>
            <a:off x="459000" y="1871800"/>
            <a:ext cx="11274000" cy="2862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59340"/>
              <a:buFont typeface="Trebuchet MS"/>
              <a:buNone/>
            </a:pPr>
            <a:r>
              <a:rPr b="1" lang="en-US"/>
              <a:t>Title:</a:t>
            </a:r>
            <a:br>
              <a:rPr b="1" lang="en-US"/>
            </a:br>
            <a:r>
              <a:rPr lang="en-US"/>
              <a:t> Fashion MNIST Classification with ANN and CNN</a:t>
            </a:r>
            <a:endParaRPr/>
          </a:p>
        </p:txBody>
      </p:sp>
      <p:sp>
        <p:nvSpPr>
          <p:cNvPr id="69" name="Google Shape;69;p14"/>
          <p:cNvSpPr txBox="1"/>
          <p:nvPr>
            <p:ph idx="1" type="subTitle"/>
          </p:nvPr>
        </p:nvSpPr>
        <p:spPr>
          <a:xfrm>
            <a:off x="4305675" y="5008025"/>
            <a:ext cx="6546900" cy="7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62500"/>
              <a:buNone/>
            </a:pPr>
            <a:r>
              <a:rPr b="1" lang="en-US"/>
              <a:t>Subtitle: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62500"/>
              <a:buNone/>
            </a:pPr>
            <a:r>
              <a:rPr lang="en-US"/>
              <a:t> PyTorch-based Deep Learning Pipeline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62500"/>
              <a:buNone/>
            </a:pPr>
            <a:r>
              <a:rPr b="1" lang="en-US"/>
              <a:t>Presented by:</a:t>
            </a:r>
            <a:r>
              <a:rPr lang="en-US"/>
              <a:t> Muhammad Ali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ct val="62500"/>
              <a:buNone/>
            </a:pPr>
            <a:r>
              <a:rPr lang="en-US"/>
              <a:t>P2914939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0000"/>
              <a:buFont typeface="Trebuchet MS"/>
              <a:buNone/>
            </a:pPr>
            <a:r>
              <a:rPr b="1" lang="en-US"/>
              <a:t>Project Overview</a:t>
            </a:r>
            <a:br>
              <a:rPr b="1" lang="en-US"/>
            </a:b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448635" y="2327558"/>
            <a:ext cx="5759700" cy="37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Objective: Classify Fashion-MNIST images using ANN and CNN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Frameworks: PyTorch, torchvision, sklearn, seaborn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Models: Artificial Neural Network (ANN) and Convolutional Neural Network (CNN)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Evaluation: Accuracy, Confusion Matrix, Class-wise Report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8024" y="2291173"/>
            <a:ext cx="5339882" cy="3559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0000"/>
              <a:buFont typeface="Trebuchet MS"/>
              <a:buNone/>
            </a:pPr>
            <a:r>
              <a:rPr b="1" lang="en-US"/>
              <a:t>Data Preprocessing</a:t>
            </a:r>
            <a:br>
              <a:rPr b="1" lang="en-US"/>
            </a:b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680321" y="2255930"/>
            <a:ext cx="5114365" cy="3149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Dataset: Fashion-MNIST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Transformations: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/>
              <a:t>Random Horizontal Flip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/>
              <a:t>Random Rotation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lang="en-US"/>
              <a:t>Normalization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Split: 80% training, 20% validation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Loaders: Train, Validation, Test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83" name="Google Shape;8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48401" y="2255930"/>
            <a:ext cx="5798213" cy="3550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1141413" y="134472"/>
            <a:ext cx="99060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b="1" lang="en-US"/>
              <a:t>ANN Model Architecture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160" y="2184357"/>
            <a:ext cx="3371850" cy="148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 title="Screenshot 2025-11-05 at 2.13.4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4650" y="2184350"/>
            <a:ext cx="5475725" cy="326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508188" y="376519"/>
            <a:ext cx="9906000" cy="12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b="1" lang="en-US"/>
              <a:t>CNN Model Architecture</a:t>
            </a:r>
            <a:endParaRPr/>
          </a:p>
        </p:txBody>
      </p:sp>
      <p:pic>
        <p:nvPicPr>
          <p:cNvPr id="96" name="Google Shape;96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801" y="2389094"/>
            <a:ext cx="24955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8"/>
          <p:cNvSpPr/>
          <p:nvPr/>
        </p:nvSpPr>
        <p:spPr>
          <a:xfrm>
            <a:off x="832801" y="4338557"/>
            <a:ext cx="12192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Input: 1×28×28 image</a:t>
            </a:r>
            <a:endParaRPr/>
          </a:p>
          <a:p>
            <a:pPr indent="-1143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</a:pPr>
            <a:r>
              <a:rPr b="0" i="0" lang="en-US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Output: 10 classes</a:t>
            </a:r>
            <a:endParaRPr/>
          </a:p>
        </p:txBody>
      </p:sp>
      <p:pic>
        <p:nvPicPr>
          <p:cNvPr id="98" name="Google Shape;98;p18" title="Screenshot 2025-11-05 at 2.13.45 p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29803" y="2389102"/>
            <a:ext cx="5550649" cy="313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b="1" lang="en-US"/>
              <a:t>Training Loop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838200" y="2154634"/>
            <a:ext cx="44757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Epochs: </a:t>
            </a:r>
            <a:r>
              <a:rPr lang="en-US" sz="36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20</a:t>
            </a:r>
            <a:endParaRPr>
              <a:highlight>
                <a:schemeClr val="lt1"/>
              </a:highlight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Optimizer: Adam</a:t>
            </a:r>
            <a:endParaRPr>
              <a:highlight>
                <a:schemeClr val="lt1"/>
              </a:highlight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Scheduler: Step-LR</a:t>
            </a:r>
            <a:endParaRPr>
              <a:highlight>
                <a:schemeClr val="lt1"/>
              </a:highlight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Metrics:</a:t>
            </a:r>
            <a:endParaRPr>
              <a:highlight>
                <a:schemeClr val="lt1"/>
              </a:highlight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Loss (Train/Val)</a:t>
            </a:r>
            <a:endParaRPr>
              <a:highlight>
                <a:schemeClr val="lt1"/>
              </a:highlight>
            </a:endParaRPr>
          </a:p>
          <a:p>
            <a:pPr indent="-2286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Arial"/>
              <a:buChar char="•"/>
            </a:pPr>
            <a:r>
              <a:rPr b="0" i="0" lang="en-US" sz="3600" u="none" cap="none" strike="noStrike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Accuracy (Train/Val)</a:t>
            </a:r>
            <a:endParaRPr>
              <a:highlight>
                <a:schemeClr val="lt1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60667" y="365125"/>
            <a:ext cx="4301027" cy="294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0667" y="3429000"/>
            <a:ext cx="4301027" cy="31628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0000"/>
              <a:buFont typeface="Trebuchet MS"/>
              <a:buNone/>
            </a:pPr>
            <a:r>
              <a:rPr b="1" lang="en-US"/>
              <a:t>Training Curves</a:t>
            </a:r>
            <a:br>
              <a:rPr b="1" lang="en-US"/>
            </a:b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515471" y="2236694"/>
            <a:ext cx="4379259" cy="47515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Loss vs. Epoch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Accuracy vs. Epoch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Separate plots for ANN and CNN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6542" y="1044388"/>
            <a:ext cx="6392364" cy="2384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4133" y="3744961"/>
            <a:ext cx="6392363" cy="238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555812" y="627529"/>
            <a:ext cx="4047565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rebuchet MS"/>
              <a:buNone/>
            </a:pPr>
            <a:r>
              <a:rPr b="1" lang="en-US"/>
              <a:t>Confusion Matrix</a:t>
            </a:r>
            <a:br>
              <a:rPr b="1" lang="en-US"/>
            </a:b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513893" y="2422527"/>
            <a:ext cx="4419600" cy="43030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Visualized using seaborn heatmap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Labels: 10 Fashion-MNIST classes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/>
              <a:t>Comparison: ANN vs. CNN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160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8337" y="3300250"/>
            <a:ext cx="5601616" cy="25476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48336" y="689971"/>
            <a:ext cx="5601616" cy="2285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2"/>
          <p:cNvSpPr txBox="1"/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0000"/>
              <a:buFont typeface="Trebuchet MS"/>
              <a:buNone/>
            </a:pPr>
            <a:r>
              <a:rPr b="1" lang="en-US"/>
              <a:t>Results Summary</a:t>
            </a:r>
            <a:br>
              <a:rPr b="1" lang="en-US"/>
            </a:br>
            <a:endParaRPr/>
          </a:p>
        </p:txBody>
      </p:sp>
      <p:pic>
        <p:nvPicPr>
          <p:cNvPr id="128" name="Google Shape;128;p22" title="Screenshot 2025-11-05 at 11.44.44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86575"/>
            <a:ext cx="11531048" cy="471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